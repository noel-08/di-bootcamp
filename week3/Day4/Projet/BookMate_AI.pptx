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113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5180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37160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8F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BookMate </a:t>
            </a: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28346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Réinventer la recommandation d'E-books par l'IA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40233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C8F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2026  |  ÉQUIPE DATA ENGINE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36576"/>
          </a:xfrm>
          <a:prstGeom prst="rect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Coût de l'</a:t>
            </a:r>
            <a:r>
              <a:rPr lang="en-US" sz="3800" b="1" dirty="0">
                <a:solidFill>
                  <a:srgbClr val="C8F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Incertitude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F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Selon le rapport mondial Global Consumer Pulse Research 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+756 Milliards $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la perte annuelle mondiale générée par des systèmes de recommandation obsolètes ou imprécis. Un impact critique que l'on observe massivement sur les plateformes d'e-books.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36576"/>
          </a:xfrm>
          <a:prstGeom prst="rect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Impact </a:t>
            </a:r>
            <a:r>
              <a:rPr lang="en-US" sz="3800" b="1" dirty="0">
                <a:solidFill>
                  <a:srgbClr val="C8F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228600" y="1143000"/>
            <a:ext cx="2834640" cy="3474720"/>
          </a:xfrm>
          <a:prstGeom prst="roundRect">
            <a:avLst>
              <a:gd name="adj" fmla="val 3871"/>
            </a:avLst>
          </a:prstGeom>
          <a:solidFill>
            <a:srgbClr val="1A1A1A"/>
          </a:solidFill>
          <a:ln/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 Massif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11480" y="246888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lecteurs quittent définitivement la plateforme face à la surcharge de choix non pertinents.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73552" y="1143000"/>
            <a:ext cx="2834640" cy="3474720"/>
          </a:xfrm>
          <a:prstGeom prst="roundRect">
            <a:avLst>
              <a:gd name="adj" fmla="val 3871"/>
            </a:avLst>
          </a:prstGeom>
          <a:solidFill>
            <a:srgbClr val="1A1A1A"/>
          </a:solidFill>
          <a:ln/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56432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Manque à Gagner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56432" y="246888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Incapacité flagrante de convertir l'intérêt de l'audience en actes d'achat réels.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7648" y="1143000"/>
            <a:ext cx="2834640" cy="3474720"/>
          </a:xfrm>
          <a:prstGeom prst="roundRect">
            <a:avLst>
              <a:gd name="adj" fmla="val 3871"/>
            </a:avLst>
          </a:prstGeom>
          <a:solidFill>
            <a:srgbClr val="1A1A1A"/>
          </a:solidFill>
          <a:ln/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0528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Fidélité Rompue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46888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recommandations génériques détruisent l'engagement à long terme avec l'application.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5074920"/>
            <a:ext cx="9144000" cy="36576"/>
          </a:xfrm>
          <a:prstGeom prst="rect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 : </a:t>
            </a:r>
            <a:r>
              <a:rPr lang="en-US" sz="3800" b="1" dirty="0">
                <a:solidFill>
                  <a:srgbClr val="C8F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BookMate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système de personnalisation intelligent de 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dernière génération.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BookMate intègre des algorithmes mathématiques avancés pour identifier, nettoyer et cartographier les préférences uniques de chaque lecteur, transformant la navigation passive en coup de cœur immédiat.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097280"/>
            <a:ext cx="320040" cy="320040"/>
          </a:xfrm>
          <a:prstGeom prst="ellipse">
            <a:avLst/>
          </a:prstGeom>
          <a:solidFill>
            <a:srgbClr val="C8F065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1463040"/>
            <a:ext cx="228600" cy="228600"/>
          </a:xfrm>
          <a:prstGeom prst="ellipse">
            <a:avLst/>
          </a:prstGeom>
          <a:solidFill>
            <a:srgbClr val="C8F06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2560320"/>
            <a:ext cx="274320" cy="274320"/>
          </a:xfrm>
          <a:prstGeom prst="ellipse">
            <a:avLst/>
          </a:prstGeom>
          <a:solidFill>
            <a:srgbClr val="C8F065"/>
          </a:solidFill>
          <a:ln/>
        </p:spPr>
      </p:sp>
      <p:sp>
        <p:nvSpPr>
          <p:cNvPr id="9" name="Shape 7"/>
          <p:cNvSpPr/>
          <p:nvPr/>
        </p:nvSpPr>
        <p:spPr>
          <a:xfrm rot="-2700000">
            <a:off x="6400800" y="1645920"/>
            <a:ext cx="1645920" cy="502920"/>
          </a:xfrm>
          <a:prstGeom prst="roundRect">
            <a:avLst>
              <a:gd name="adj" fmla="val 21818"/>
            </a:avLst>
          </a:prstGeom>
          <a:solidFill>
            <a:srgbClr val="C8F06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5074920"/>
            <a:ext cx="9144000" cy="36576"/>
          </a:xfrm>
          <a:prstGeom prst="rect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ça </a:t>
            </a:r>
            <a:r>
              <a:rPr lang="en-US" sz="3800" b="1" dirty="0">
                <a:solidFill>
                  <a:srgbClr val="C8F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marche</a:t>
            </a: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228600" y="1143000"/>
            <a:ext cx="2834640" cy="3474720"/>
          </a:xfrm>
          <a:prstGeom prst="roundRect">
            <a:avLst>
              <a:gd name="adj" fmla="val 3871"/>
            </a:avLst>
          </a:prstGeom>
          <a:solidFill>
            <a:srgbClr val="1A1A1A"/>
          </a:solidFill>
          <a:ln/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325880"/>
            <a:ext cx="365760" cy="365760"/>
          </a:xfrm>
          <a:prstGeom prst="ellipse">
            <a:avLst/>
          </a:prstGeom>
          <a:solidFill>
            <a:srgbClr val="C8F065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Similarité Cosinus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242316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vectoriel via SciPy pour cibler les jumeaux de lecture selon l'orientation de leurs intérêts.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73552" y="1143000"/>
            <a:ext cx="2834640" cy="3474720"/>
          </a:xfrm>
          <a:prstGeom prst="roundRect">
            <a:avLst>
              <a:gd name="adj" fmla="val 3871"/>
            </a:avLst>
          </a:prstGeom>
          <a:solidFill>
            <a:srgbClr val="1A1A1A"/>
          </a:solidFill>
          <a:ln/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56432" y="1325880"/>
            <a:ext cx="365760" cy="365760"/>
          </a:xfrm>
          <a:prstGeom prst="ellipse">
            <a:avLst/>
          </a:prstGeom>
          <a:solidFill>
            <a:srgbClr val="C8F065"/>
          </a:solidFill>
          <a:ln/>
        </p:spPr>
      </p:sp>
      <p:sp>
        <p:nvSpPr>
          <p:cNvPr id="9" name="Text 7"/>
          <p:cNvSpPr/>
          <p:nvPr/>
        </p:nvSpPr>
        <p:spPr>
          <a:xfrm>
            <a:off x="3456432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Pondération active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56432" y="242316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Ajustement de l'importance des actions : un achat a plus de poids qu'un simple clic ou une vue.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27648" y="1143000"/>
            <a:ext cx="2834640" cy="3474720"/>
          </a:xfrm>
          <a:prstGeom prst="roundRect">
            <a:avLst>
              <a:gd name="adj" fmla="val 3871"/>
            </a:avLst>
          </a:prstGeom>
          <a:solidFill>
            <a:srgbClr val="1A1A1A"/>
          </a:solidFill>
          <a:ln/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1325880"/>
            <a:ext cx="365760" cy="365760"/>
          </a:xfrm>
          <a:prstGeom prst="ellipse">
            <a:avLst/>
          </a:prstGeom>
          <a:solidFill>
            <a:srgbClr val="C8F065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Logique Prédictive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10528" y="242316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croisée adaptative combinant l'âge, la localisation et le comportement en temps réel.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5074920"/>
            <a:ext cx="9144000" cy="36576"/>
          </a:xfrm>
          <a:prstGeom prst="rect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Garantir la Qualité des </a:t>
            </a:r>
            <a:r>
              <a:rPr lang="en-US" sz="3600" b="1" dirty="0">
                <a:solidFill>
                  <a:srgbClr val="C8F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code intègre un pipeline robuste de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sous Pandas &amp; NumPy 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274320" cy="274320"/>
          </a:xfrm>
          <a:prstGeom prst="ellipse">
            <a:avLst/>
          </a:prstGeom>
          <a:solidFill>
            <a:srgbClr val="C8F06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Suppression automatique des âges aberrants (-5 ou 999 ans).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274320" cy="274320"/>
          </a:xfrm>
          <a:prstGeom prst="ellipse">
            <a:avLst/>
          </a:prstGeom>
          <a:solidFill>
            <a:srgbClr val="C8F06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803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Imputation intelligente des valeurs manquantes par médiane/mode.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703320"/>
            <a:ext cx="274320" cy="274320"/>
          </a:xfrm>
          <a:prstGeom prst="ellipse">
            <a:avLst/>
          </a:prstGeom>
          <a:solidFill>
            <a:srgbClr val="C8F06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6576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Dédoublonnage complet des journaux de logs d'activité.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5074920"/>
            <a:ext cx="9144000" cy="36576"/>
          </a:xfrm>
          <a:prstGeom prst="rect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des </a:t>
            </a:r>
            <a:r>
              <a:rPr lang="en-US" sz="3600" b="1" dirty="0">
                <a:solidFill>
                  <a:srgbClr val="C8F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Centres d'Intérêt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</a:t>
            </a:r>
            <a:endParaRPr lang="en-US" sz="1300" dirty="0"/>
          </a:p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468880" y="1371600"/>
            <a:ext cx="5943600" cy="411480"/>
          </a:xfrm>
          <a:prstGeom prst="roundRect">
            <a:avLst>
              <a:gd name="adj" fmla="val 11111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2468880" y="1371600"/>
            <a:ext cx="5646420" cy="411480"/>
          </a:xfrm>
          <a:prstGeom prst="roundRect">
            <a:avLst>
              <a:gd name="adj" fmla="val 11111"/>
            </a:avLst>
          </a:prstGeom>
          <a:solidFill>
            <a:srgbClr val="C8F06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057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2194560"/>
            <a:ext cx="5943600" cy="411480"/>
          </a:xfrm>
          <a:prstGeom prst="roundRect">
            <a:avLst>
              <a:gd name="adj" fmla="val 11111"/>
            </a:avLst>
          </a:prstGeom>
          <a:solidFill>
            <a:srgbClr val="2A2A2A"/>
          </a:solidFill>
          <a:ln/>
        </p:spPr>
      </p:sp>
      <p:sp>
        <p:nvSpPr>
          <p:cNvPr id="8" name="Shape 6"/>
          <p:cNvSpPr/>
          <p:nvPr/>
        </p:nvSpPr>
        <p:spPr>
          <a:xfrm>
            <a:off x="2468880" y="2194560"/>
            <a:ext cx="5170932" cy="411480"/>
          </a:xfrm>
          <a:prstGeom prst="roundRect">
            <a:avLst>
              <a:gd name="adj" fmla="val 11111"/>
            </a:avLst>
          </a:prstGeom>
          <a:solidFill>
            <a:srgbClr val="C8F06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80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Thriller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68880" y="3017520"/>
            <a:ext cx="5943600" cy="411480"/>
          </a:xfrm>
          <a:prstGeom prst="roundRect">
            <a:avLst>
              <a:gd name="adj" fmla="val 11111"/>
            </a:avLst>
          </a:prstGeom>
          <a:solidFill>
            <a:srgbClr val="2A2A2A"/>
          </a:solidFill>
          <a:ln/>
        </p:spPr>
      </p:sp>
      <p:sp>
        <p:nvSpPr>
          <p:cNvPr id="11" name="Shape 9"/>
          <p:cNvSpPr/>
          <p:nvPr/>
        </p:nvSpPr>
        <p:spPr>
          <a:xfrm>
            <a:off x="2468880" y="3017520"/>
            <a:ext cx="4636008" cy="411480"/>
          </a:xfrm>
          <a:prstGeom prst="roundRect">
            <a:avLst>
              <a:gd name="adj" fmla="val 11111"/>
            </a:avLst>
          </a:prstGeom>
          <a:solidFill>
            <a:srgbClr val="C8F065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703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Cuisine / Fantasy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68880" y="3840480"/>
            <a:ext cx="5943600" cy="411480"/>
          </a:xfrm>
          <a:prstGeom prst="roundRect">
            <a:avLst>
              <a:gd name="adj" fmla="val 11111"/>
            </a:avLst>
          </a:prstGeom>
          <a:solidFill>
            <a:srgbClr val="2A2A2A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3840480"/>
            <a:ext cx="4279392" cy="411480"/>
          </a:xfrm>
          <a:prstGeom prst="roundRect">
            <a:avLst>
              <a:gd name="adj" fmla="val 11111"/>
            </a:avLst>
          </a:prstGeom>
          <a:solidFill>
            <a:srgbClr val="C8F065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572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prescriptive extraite de notre dataset de simulation.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5074920"/>
            <a:ext cx="9144000" cy="36576"/>
          </a:xfrm>
          <a:prstGeom prst="rect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 de la </a:t>
            </a:r>
            <a:r>
              <a:rPr lang="en-US" sz="3600" b="1" dirty="0">
                <a:solidFill>
                  <a:srgbClr val="C8F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8F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UTILISATEURS ACTIFS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0" y="15544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8F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200400" y="3063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GENRES LITTÉRAIRES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5544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8F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943600" y="3063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D'ACTIVITÉ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5074920"/>
            <a:ext cx="9144000" cy="36576"/>
          </a:xfrm>
          <a:prstGeom prst="rect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Scalabilité &amp; </a:t>
            </a:r>
            <a:r>
              <a:rPr lang="en-US" sz="3800" b="1" dirty="0">
                <a:solidFill>
                  <a:srgbClr val="C8F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Évolution vers des réseaux de neurones pour décrypter finement les affinités de lecture textuelles non-linéaires.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Multimodale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Intégration immédiate des livres audio, résumés de podcasts et articles thématiques.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1188720"/>
            <a:ext cx="1645920" cy="2194560"/>
          </a:xfrm>
          <a:prstGeom prst="ellipse">
            <a:avLst/>
          </a:prstGeom>
          <a:solidFill>
            <a:srgbClr val="C8F065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0" y="3200400"/>
            <a:ext cx="548640" cy="457200"/>
          </a:xfrm>
          <a:prstGeom prst="ellipse">
            <a:avLst/>
          </a:prstGeom>
          <a:solidFill>
            <a:srgbClr val="888888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3200400"/>
            <a:ext cx="548640" cy="457200"/>
          </a:xfrm>
          <a:prstGeom prst="ellipse">
            <a:avLst/>
          </a:prstGeom>
          <a:solidFill>
            <a:srgbClr val="888888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074920"/>
            <a:ext cx="9144000" cy="36576"/>
          </a:xfrm>
          <a:prstGeom prst="rect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046720" cy="2926080"/>
          </a:xfrm>
          <a:prstGeom prst="roundRect">
            <a:avLst>
              <a:gd name="adj" fmla="val 3750"/>
            </a:avLst>
          </a:prstGeom>
          <a:solidFill>
            <a:srgbClr val="1A1A1A"/>
          </a:solidFill>
          <a:ln/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48640" y="1097280"/>
            <a:ext cx="164592" cy="2926080"/>
          </a:xfrm>
          <a:prstGeom prst="rect">
            <a:avLst/>
          </a:prstGeom>
          <a:solidFill>
            <a:srgbClr val="C8F065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5544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 personnalisation n'est plus un luxe, c'est le standard universel attendu par chaque lecteur."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60720" y="3703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8F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BookMate AI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36576"/>
          </a:xfrm>
          <a:prstGeom prst="rect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!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aux questions du jury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3657600"/>
            <a:ext cx="320040" cy="320040"/>
          </a:xfrm>
          <a:prstGeom prst="ellipse">
            <a:avLst/>
          </a:prstGeom>
          <a:solidFill>
            <a:srgbClr val="C8F065"/>
          </a:solidFill>
          <a:ln/>
        </p:spPr>
      </p:sp>
      <p:sp>
        <p:nvSpPr>
          <p:cNvPr id="5" name="Text 3"/>
          <p:cNvSpPr/>
          <p:nvPr/>
        </p:nvSpPr>
        <p:spPr>
          <a:xfrm>
            <a:off x="1783080" y="3611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contact@bookmate-ia.com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0" y="3657600"/>
            <a:ext cx="320040" cy="320040"/>
          </a:xfrm>
          <a:prstGeom prst="ellipse">
            <a:avLst/>
          </a:prstGeom>
          <a:solidFill>
            <a:srgbClr val="C8F065"/>
          </a:solidFill>
          <a:ln/>
        </p:spPr>
      </p:sp>
      <p:sp>
        <p:nvSpPr>
          <p:cNvPr id="7" name="Text 5"/>
          <p:cNvSpPr/>
          <p:nvPr/>
        </p:nvSpPr>
        <p:spPr>
          <a:xfrm>
            <a:off x="5440680" y="3611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github.com/hackathon/bookmate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36576"/>
          </a:xfrm>
          <a:prstGeom prst="rect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</Words>
  <Application>Microsoft Office PowerPoint</Application>
  <PresentationFormat>Affichage à l'écran (16:9)</PresentationFormat>
  <Paragraphs>64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BookMate AI</dc:title>
  <dc:subject>PptxGenJS Presentation</dc:subject>
  <dc:creator>PptxGenJS</dc:creator>
  <cp:lastModifiedBy>Olivia Gue</cp:lastModifiedBy>
  <cp:revision>1</cp:revision>
  <dcterms:created xsi:type="dcterms:W3CDTF">2026-06-12T16:26:57Z</dcterms:created>
  <dcterms:modified xsi:type="dcterms:W3CDTF">2026-06-12T16:28:44Z</dcterms:modified>
</cp:coreProperties>
</file>